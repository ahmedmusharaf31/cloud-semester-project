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B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D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E8D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05156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E8DDC7"/>
                </a:solidFill>
                <a:latin typeface="Segoe UI"/>
              </a:rPr>
              <a:t>CE-408  ·  CLOUD COMPUTING  ·  8TH SEMESTER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399" y="1421892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5000" b="1" dirty="0">
                <a:solidFill>
                  <a:srgbClr val="FFFFFF"/>
                </a:solidFill>
                <a:latin typeface="Segoe UI"/>
              </a:rPr>
              <a:t>Auto-Scaling E-Commerce Backend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5000" b="1" dirty="0">
                <a:solidFill>
                  <a:srgbClr val="E8DDC7"/>
                </a:solidFill>
                <a:latin typeface="Segoe UI"/>
              </a:rPr>
              <a:t>with Chaos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3897556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00" b="0" dirty="0">
                <a:solidFill>
                  <a:srgbClr val="F6F1EA"/>
                </a:solidFill>
                <a:latin typeface="Segoe UI"/>
              </a:rPr>
              <a:t>A resilient, self-healing microservices backend on AWS, proven under load and deliberate failure.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" y="4343400"/>
            <a:ext cx="1280160" cy="45720"/>
          </a:xfrm>
          <a:prstGeom prst="rect">
            <a:avLst/>
          </a:prstGeom>
          <a:solidFill>
            <a:srgbClr val="557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617720"/>
            <a:ext cx="68580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E8DDC7"/>
                </a:solidFill>
                <a:latin typeface="Segoe UI"/>
              </a:rPr>
              <a:t>PROJECT TEAM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F6F1EA"/>
                </a:solidFill>
                <a:latin typeface="Segoe UI"/>
              </a:rPr>
              <a:t>Ahmed Musharaf  (2022067)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F6F1EA"/>
                </a:solidFill>
                <a:latin typeface="Segoe UI"/>
              </a:rPr>
              <a:t>Abdullah Saeed  (2022329)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F6F1EA"/>
                </a:solidFill>
                <a:latin typeface="Segoe UI"/>
              </a:rPr>
              <a:t>Abdullah Zafar  (2022328)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4617720"/>
            <a:ext cx="32918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 dirty="0">
                <a:solidFill>
                  <a:srgbClr val="E8DDC7"/>
                </a:solidFill>
                <a:latin typeface="Segoe UI"/>
              </a:rPr>
              <a:t>INSTRUCTOR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 dirty="0">
                <a:solidFill>
                  <a:srgbClr val="F6F1EA"/>
                </a:solidFill>
                <a:latin typeface="Segoe UI"/>
              </a:rPr>
              <a:t>Miss Safia Baloch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1600" b="0" dirty="0">
              <a:solidFill>
                <a:srgbClr val="F6F1EA"/>
              </a:solidFill>
              <a:latin typeface="Segoe U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 dirty="0">
                <a:solidFill>
                  <a:srgbClr val="E8DDC7"/>
                </a:solidFill>
                <a:latin typeface="Segoe UI"/>
              </a:rPr>
              <a:t>LIVE DEMO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 dirty="0">
                <a:solidFill>
                  <a:srgbClr val="F6F1EA"/>
                </a:solidFill>
                <a:latin typeface="Segoe UI"/>
              </a:rPr>
              <a:t>S3-hosted GIKI Mart storefront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B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>
                <a:solidFill>
                  <a:srgbClr val="7B1D2E"/>
                </a:solidFill>
                <a:latin typeface="Segoe UI"/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4241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>
                <a:solidFill>
                  <a:srgbClr val="15110F"/>
                </a:solidFill>
                <a:latin typeface="Segoe UI"/>
              </a:rPr>
              <a:t>The Problem &amp; Our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05840" cy="45720"/>
          </a:xfrm>
          <a:prstGeom prst="rect">
            <a:avLst/>
          </a:prstGeom>
          <a:solidFill>
            <a:srgbClr val="557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55680" y="4114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7B1D2E"/>
                </a:solidFill>
                <a:latin typeface="Segoe UI"/>
              </a:rPr>
              <a:t>02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7B1D2E"/>
                </a:solidFill>
                <a:latin typeface="Segoe UI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53035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500" b="1">
                <a:solidFill>
                  <a:srgbClr val="7B1D2E"/>
                </a:solidFill>
                <a:latin typeface="Segoe UI"/>
              </a:rPr>
              <a:t>▪  </a:t>
            </a:r>
            <a:r>
              <a:rPr sz="1500" b="0">
                <a:solidFill>
                  <a:srgbClr val="3B3531"/>
                </a:solidFill>
                <a:latin typeface="Segoe UI"/>
              </a:rPr>
              <a:t>Cloud apps fail in unpredictable ways: tasks die, dependencies slow down, traffic spikes without warning.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500" b="1">
                <a:solidFill>
                  <a:srgbClr val="7B1D2E"/>
                </a:solidFill>
                <a:latin typeface="Segoe UI"/>
              </a:rPr>
              <a:t>▪  </a:t>
            </a:r>
            <a:r>
              <a:rPr sz="1500" b="0">
                <a:solidFill>
                  <a:srgbClr val="3B3531"/>
                </a:solidFill>
                <a:latin typeface="Segoe UI"/>
              </a:rPr>
              <a:t>Most teams only discover these weak points during a real outage, in front of real users.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500" b="1">
                <a:solidFill>
                  <a:srgbClr val="7B1D2E"/>
                </a:solidFill>
                <a:latin typeface="Segoe UI"/>
              </a:rPr>
              <a:t>▪  </a:t>
            </a:r>
            <a:r>
              <a:rPr sz="1500" b="0">
                <a:solidFill>
                  <a:srgbClr val="3B3531"/>
                </a:solidFill>
                <a:latin typeface="Segoe UI"/>
              </a:rPr>
              <a:t>Resilience cannot be assumed. It has to be engineered and measured.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6052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7B1D2E"/>
                </a:solidFill>
                <a:latin typeface="Segoe UI"/>
              </a:rPr>
              <a:t>OUR 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572000"/>
            <a:ext cx="53035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7B1D2E"/>
                </a:solidFill>
                <a:latin typeface="Segoe UI"/>
              </a:rPr>
              <a:t>▪  </a:t>
            </a:r>
            <a:r>
              <a:rPr sz="1500" b="0">
                <a:solidFill>
                  <a:srgbClr val="3B3531"/>
                </a:solidFill>
                <a:latin typeface="Segoe UI"/>
              </a:rPr>
              <a:t>Build a 3-service e-commerce backend on AWS Fargate.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7B1D2E"/>
                </a:solidFill>
                <a:latin typeface="Segoe UI"/>
              </a:rPr>
              <a:t>▪  </a:t>
            </a:r>
            <a:r>
              <a:rPr sz="1500" b="0">
                <a:solidFill>
                  <a:srgbClr val="3B3531"/>
                </a:solidFill>
                <a:latin typeface="Segoe UI"/>
              </a:rPr>
              <a:t>Make it auto-scale on demand and self-heal on failure.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7B1D2E"/>
                </a:solidFill>
                <a:latin typeface="Segoe UI"/>
              </a:rPr>
              <a:t>▪  </a:t>
            </a:r>
            <a:r>
              <a:rPr sz="1500" b="0">
                <a:solidFill>
                  <a:srgbClr val="3B3531"/>
                </a:solidFill>
                <a:latin typeface="Segoe UI"/>
              </a:rPr>
              <a:t>Prove resilience with controlled chaos experiments.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783080"/>
            <a:ext cx="5120640" cy="4480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0" y="1783080"/>
            <a:ext cx="5120640" cy="566928"/>
          </a:xfrm>
          <a:prstGeom prst="rect">
            <a:avLst/>
          </a:prstGeom>
          <a:solidFill>
            <a:srgbClr val="7B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0" y="1828800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CHAOS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606040"/>
            <a:ext cx="4572000" cy="28394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400" b="1" dirty="0">
                <a:solidFill>
                  <a:srgbClr val="7B1D2E"/>
                </a:solidFill>
                <a:latin typeface="Segoe UI"/>
              </a:rPr>
              <a:t>▪  </a:t>
            </a:r>
            <a:r>
              <a:rPr sz="1400" b="1" dirty="0">
                <a:solidFill>
                  <a:srgbClr val="15110F"/>
                </a:solidFill>
                <a:latin typeface="Segoe UI"/>
              </a:rPr>
              <a:t>Definition.  </a:t>
            </a:r>
            <a:r>
              <a:rPr sz="1400" b="0" dirty="0">
                <a:solidFill>
                  <a:srgbClr val="3B3531"/>
                </a:solidFill>
                <a:latin typeface="Segoe UI"/>
              </a:rPr>
              <a:t>Deliberately injecting failure into a system to expose weaknesses before they cause outages.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400" b="1" dirty="0">
                <a:solidFill>
                  <a:srgbClr val="7B1D2E"/>
                </a:solidFill>
                <a:latin typeface="Segoe UI"/>
              </a:rPr>
              <a:t>▪  </a:t>
            </a:r>
            <a:r>
              <a:rPr sz="1400" b="1" dirty="0">
                <a:solidFill>
                  <a:srgbClr val="15110F"/>
                </a:solidFill>
                <a:latin typeface="Segoe UI"/>
              </a:rPr>
              <a:t>Inspiration.  </a:t>
            </a:r>
            <a:r>
              <a:rPr sz="1400" b="0" dirty="0">
                <a:solidFill>
                  <a:srgbClr val="3B3531"/>
                </a:solidFill>
                <a:latin typeface="Segoe UI"/>
              </a:rPr>
              <a:t>AWS Architecture Blog</a:t>
            </a:r>
            <a:r>
              <a:rPr lang="en-US" sz="1400" b="0" dirty="0">
                <a:solidFill>
                  <a:srgbClr val="3B3531"/>
                </a:solidFill>
                <a:latin typeface="Segoe UI"/>
              </a:rPr>
              <a:t>: </a:t>
            </a:r>
            <a:r>
              <a:rPr sz="1400" b="0" dirty="0">
                <a:solidFill>
                  <a:srgbClr val="3B3531"/>
                </a:solidFill>
                <a:latin typeface="Segoe UI"/>
              </a:rPr>
              <a:t>Chaos Engineering in the Cloud.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400" b="1" dirty="0">
                <a:solidFill>
                  <a:srgbClr val="7B1D2E"/>
                </a:solidFill>
                <a:latin typeface="Segoe UI"/>
              </a:rPr>
              <a:t>▪  </a:t>
            </a:r>
            <a:r>
              <a:rPr sz="1400" b="1" dirty="0">
                <a:solidFill>
                  <a:srgbClr val="15110F"/>
                </a:solidFill>
                <a:latin typeface="Segoe UI"/>
              </a:rPr>
              <a:t>Our approach.  </a:t>
            </a:r>
            <a:r>
              <a:rPr sz="1400" b="0" dirty="0">
                <a:solidFill>
                  <a:srgbClr val="3B3531"/>
                </a:solidFill>
                <a:latin typeface="Segoe UI"/>
              </a:rPr>
              <a:t>Two repeatable experiments: killing a live task, and injecting latency into one service.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400" b="1" dirty="0">
                <a:solidFill>
                  <a:srgbClr val="7B1D2E"/>
                </a:solidFill>
                <a:latin typeface="Segoe UI"/>
              </a:rPr>
              <a:t>▪  </a:t>
            </a:r>
            <a:r>
              <a:rPr sz="1400" b="1" dirty="0">
                <a:solidFill>
                  <a:srgbClr val="15110F"/>
                </a:solidFill>
                <a:latin typeface="Segoe UI"/>
              </a:rPr>
              <a:t>Goal.  </a:t>
            </a:r>
            <a:r>
              <a:rPr sz="1400" b="0" dirty="0">
                <a:solidFill>
                  <a:srgbClr val="3B3531"/>
                </a:solidFill>
                <a:latin typeface="Segoe UI"/>
              </a:rPr>
              <a:t>Zero user-visible 5xx errors, even while the system is actively failing.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B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>
                <a:solidFill>
                  <a:srgbClr val="7B1D2E"/>
                </a:solidFill>
                <a:latin typeface="Segoe UI"/>
              </a:rPr>
              <a:t>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4241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>
                <a:solidFill>
                  <a:srgbClr val="15110F"/>
                </a:solidFill>
                <a:latin typeface="Segoe UI"/>
              </a:rPr>
              <a:t>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05840" cy="45720"/>
          </a:xfrm>
          <a:prstGeom prst="rect">
            <a:avLst/>
          </a:prstGeom>
          <a:solidFill>
            <a:srgbClr val="557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55680" y="4114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7B1D2E"/>
                </a:solidFill>
                <a:latin typeface="Segoe UI"/>
              </a:rPr>
              <a:t>03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50292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400" b="1">
                <a:solidFill>
                  <a:srgbClr val="7B1D2E"/>
                </a:solidFill>
                <a:latin typeface="Segoe UI"/>
              </a:rPr>
              <a:t>▪  </a:t>
            </a:r>
            <a:r>
              <a:rPr sz="1400" b="1">
                <a:solidFill>
                  <a:srgbClr val="15110F"/>
                </a:solidFill>
                <a:latin typeface="Segoe UI"/>
              </a:rPr>
              <a:t>Single entry point.  </a:t>
            </a:r>
            <a:r>
              <a:rPr sz="1400" b="0">
                <a:solidFill>
                  <a:srgbClr val="3B3531"/>
                </a:solidFill>
                <a:latin typeface="Segoe UI"/>
              </a:rPr>
              <a:t>An Application Load Balancer routes every request by path.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400" b="1">
                <a:solidFill>
                  <a:srgbClr val="7B1D2E"/>
                </a:solidFill>
                <a:latin typeface="Segoe UI"/>
              </a:rPr>
              <a:t>▪  </a:t>
            </a:r>
            <a:r>
              <a:rPr sz="1400" b="1">
                <a:solidFill>
                  <a:srgbClr val="15110F"/>
                </a:solidFill>
                <a:latin typeface="Segoe UI"/>
              </a:rPr>
              <a:t>Path-based routing.  </a:t>
            </a:r>
            <a:r>
              <a:rPr sz="1400" b="0">
                <a:solidFill>
                  <a:srgbClr val="3B3531"/>
                </a:solidFill>
                <a:latin typeface="Segoe UI"/>
              </a:rPr>
              <a:t>/catalog/*, /cart/* and /orders/* each hit their own service.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400" b="1">
                <a:solidFill>
                  <a:srgbClr val="7B1D2E"/>
                </a:solidFill>
                <a:latin typeface="Segoe UI"/>
              </a:rPr>
              <a:t>▪  </a:t>
            </a:r>
            <a:r>
              <a:rPr sz="1400" b="1">
                <a:solidFill>
                  <a:srgbClr val="15110F"/>
                </a:solidFill>
                <a:latin typeface="Segoe UI"/>
              </a:rPr>
              <a:t>Independent services.  </a:t>
            </a:r>
            <a:r>
              <a:rPr sz="1400" b="0">
                <a:solidFill>
                  <a:srgbClr val="3B3531"/>
                </a:solidFill>
                <a:latin typeface="Segoe UI"/>
              </a:rPr>
              <a:t>Three Fargate services, each owning its own data store.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400" b="1">
                <a:solidFill>
                  <a:srgbClr val="7B1D2E"/>
                </a:solidFill>
                <a:latin typeface="Segoe UI"/>
              </a:rPr>
              <a:t>▪  </a:t>
            </a:r>
            <a:r>
              <a:rPr sz="1400" b="1">
                <a:solidFill>
                  <a:srgbClr val="15110F"/>
                </a:solidFill>
                <a:latin typeface="Segoe UI"/>
              </a:rPr>
              <a:t>Async fulfilment.  </a:t>
            </a:r>
            <a:r>
              <a:rPr sz="1400" b="0">
                <a:solidFill>
                  <a:srgbClr val="3B3531"/>
                </a:solidFill>
                <a:latin typeface="Segoe UI"/>
              </a:rPr>
              <a:t>Orders drop a message on SQS for downstream processing.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7B1D2E"/>
                </a:solidFill>
                <a:latin typeface="Segoe UI"/>
              </a:rPr>
              <a:t>SERVICE MAPPING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937760"/>
            <a:ext cx="5074920" cy="384048"/>
          </a:xfrm>
          <a:prstGeom prst="rect">
            <a:avLst/>
          </a:prstGeom>
          <a:solidFill>
            <a:srgbClr val="7B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4937760"/>
            <a:ext cx="1645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4937760"/>
            <a:ext cx="1645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Compute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4937760"/>
            <a:ext cx="1645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Data store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321808"/>
            <a:ext cx="50749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5321808"/>
            <a:ext cx="1691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15110F"/>
                </a:solidFill>
                <a:latin typeface="Segoe UI"/>
              </a:rPr>
              <a:t>Catalog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5321808"/>
            <a:ext cx="1691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3B3531"/>
                </a:solidFill>
                <a:latin typeface="Segoe UI"/>
              </a:rPr>
              <a:t>Fargate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5321808"/>
            <a:ext cx="1691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3B3531"/>
                </a:solidFill>
                <a:latin typeface="Segoe UI"/>
              </a:rPr>
              <a:t>RDS Postgres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705856"/>
            <a:ext cx="5074920" cy="384048"/>
          </a:xfrm>
          <a:prstGeom prst="rect">
            <a:avLst/>
          </a:prstGeom>
          <a:solidFill>
            <a:srgbClr val="E8D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5705856"/>
            <a:ext cx="1691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15110F"/>
                </a:solidFill>
                <a:latin typeface="Segoe UI"/>
              </a:rPr>
              <a:t>Cart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5705856"/>
            <a:ext cx="1691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3B3531"/>
                </a:solidFill>
                <a:latin typeface="Segoe UI"/>
              </a:rPr>
              <a:t>Fargate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5705856"/>
            <a:ext cx="1691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3B3531"/>
                </a:solidFill>
                <a:latin typeface="Segoe UI"/>
              </a:rPr>
              <a:t>DynamoDB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089904"/>
            <a:ext cx="50749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6089904"/>
            <a:ext cx="1691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15110F"/>
                </a:solidFill>
                <a:latin typeface="Segoe UI"/>
              </a:rPr>
              <a:t>Orders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6089904"/>
            <a:ext cx="1691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3B3531"/>
                </a:solidFill>
                <a:latin typeface="Segoe UI"/>
              </a:rPr>
              <a:t>Fargate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6089904"/>
            <a:ext cx="1691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3B3531"/>
                </a:solidFill>
                <a:latin typeface="Segoe UI"/>
              </a:rPr>
              <a:t>RDS Postgres + SQS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1783080"/>
            <a:ext cx="5394960" cy="4526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26480" y="1783080"/>
            <a:ext cx="5394960" cy="502920"/>
          </a:xfrm>
          <a:prstGeom prst="rect">
            <a:avLst/>
          </a:prstGeom>
          <a:solidFill>
            <a:srgbClr val="5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55080" y="1801368"/>
            <a:ext cx="4937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REQUEST FLOW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2514600"/>
            <a:ext cx="4754880" cy="548640"/>
          </a:xfrm>
          <a:prstGeom prst="rect">
            <a:avLst/>
          </a:prstGeom>
          <a:solidFill>
            <a:srgbClr val="E8DDC7"/>
          </a:solidFill>
          <a:ln w="12700">
            <a:solidFill>
              <a:srgbClr val="D8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29400" y="2514600"/>
            <a:ext cx="2926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15110F"/>
                </a:solidFill>
                <a:latin typeface="Segoe UI"/>
              </a:rPr>
              <a:t>Browser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2514600"/>
            <a:ext cx="2377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3B3531"/>
                </a:solidFill>
                <a:latin typeface="Segoe UI"/>
              </a:rPr>
              <a:t>Customer device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3044952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557A64"/>
                </a:solidFill>
                <a:latin typeface="Segoe UI"/>
              </a:rPr>
              <a:t>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46520" y="3227832"/>
            <a:ext cx="4754880" cy="548640"/>
          </a:xfrm>
          <a:prstGeom prst="rect">
            <a:avLst/>
          </a:prstGeom>
          <a:solidFill>
            <a:srgbClr val="E8DDC7"/>
          </a:solidFill>
          <a:ln w="12700">
            <a:solidFill>
              <a:srgbClr val="D8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29400" y="3227832"/>
            <a:ext cx="2926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15110F"/>
                </a:solidFill>
                <a:latin typeface="Segoe UI"/>
              </a:rPr>
              <a:t>S3 Storefront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3227832"/>
            <a:ext cx="2377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3B3531"/>
                </a:solidFill>
                <a:latin typeface="Segoe UI"/>
              </a:rPr>
              <a:t>Static GIKI Mart site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3758184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557A64"/>
                </a:solidFill>
                <a:latin typeface="Segoe UI"/>
              </a:rPr>
              <a:t>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46520" y="3941064"/>
            <a:ext cx="4754880" cy="548640"/>
          </a:xfrm>
          <a:prstGeom prst="rect">
            <a:avLst/>
          </a:prstGeom>
          <a:solidFill>
            <a:srgbClr val="E8DDC7"/>
          </a:solidFill>
          <a:ln w="12700">
            <a:solidFill>
              <a:srgbClr val="D8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629400" y="3941064"/>
            <a:ext cx="2926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15110F"/>
                </a:solidFill>
                <a:latin typeface="Segoe UI"/>
              </a:rPr>
              <a:t>Application Load Balancer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0" y="3941064"/>
            <a:ext cx="2377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3B3531"/>
                </a:solidFill>
                <a:latin typeface="Segoe UI"/>
              </a:rPr>
              <a:t>Path-based routing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4471416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557A64"/>
                </a:solidFill>
                <a:latin typeface="Segoe UI"/>
              </a:rPr>
              <a:t>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46520" y="4654296"/>
            <a:ext cx="4754880" cy="548640"/>
          </a:xfrm>
          <a:prstGeom prst="rect">
            <a:avLst/>
          </a:prstGeom>
          <a:solidFill>
            <a:srgbClr val="E8DDC7"/>
          </a:solidFill>
          <a:ln w="12700">
            <a:solidFill>
              <a:srgbClr val="D8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629400" y="4654296"/>
            <a:ext cx="2926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15110F"/>
                </a:solidFill>
                <a:latin typeface="Segoe UI"/>
              </a:rPr>
              <a:t>Fargate × 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40" y="4654296"/>
            <a:ext cx="2377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3B3531"/>
                </a:solidFill>
                <a:latin typeface="Segoe UI"/>
              </a:rPr>
              <a:t>Catalog · Cart · Orders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518464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557A64"/>
                </a:solidFill>
                <a:latin typeface="Segoe UI"/>
              </a:rPr>
              <a:t>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46520" y="5367528"/>
            <a:ext cx="4754880" cy="548640"/>
          </a:xfrm>
          <a:prstGeom prst="rect">
            <a:avLst/>
          </a:prstGeom>
          <a:solidFill>
            <a:srgbClr val="E8DDC7"/>
          </a:solidFill>
          <a:ln w="12700">
            <a:solidFill>
              <a:srgbClr val="D8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629400" y="5367528"/>
            <a:ext cx="2926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15110F"/>
                </a:solidFill>
                <a:latin typeface="Segoe UI"/>
              </a:rPr>
              <a:t>RDS · DynamoDB · SQS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78240" y="5367528"/>
            <a:ext cx="2377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3B3531"/>
                </a:solidFill>
                <a:latin typeface="Segoe UI"/>
              </a:rPr>
              <a:t>Per-service data 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832"/>
            <a:ext cx="12191695" cy="6858000"/>
          </a:xfrm>
          <a:prstGeom prst="rect">
            <a:avLst/>
          </a:prstGeom>
          <a:solidFill>
            <a:srgbClr val="F6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B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>
                <a:solidFill>
                  <a:srgbClr val="7B1D2E"/>
                </a:solidFill>
                <a:latin typeface="Segoe UI"/>
              </a:rPr>
              <a:t>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4241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>
                <a:solidFill>
                  <a:srgbClr val="15110F"/>
                </a:solidFill>
                <a:latin typeface="Segoe UI"/>
              </a:rPr>
              <a:t>AWS Infrastructure &amp; Networking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05840" cy="45720"/>
          </a:xfrm>
          <a:prstGeom prst="rect">
            <a:avLst/>
          </a:prstGeom>
          <a:solidFill>
            <a:srgbClr val="557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55680" y="4114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7B1D2E"/>
                </a:solidFill>
                <a:latin typeface="Segoe UI"/>
              </a:rPr>
              <a:t>04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5120640" cy="37076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500" b="1" dirty="0">
                <a:solidFill>
                  <a:srgbClr val="7B1D2E"/>
                </a:solidFill>
                <a:latin typeface="Segoe UI"/>
              </a:rPr>
              <a:t>▪  </a:t>
            </a:r>
            <a:r>
              <a:rPr sz="1500" b="1" dirty="0">
                <a:solidFill>
                  <a:srgbClr val="15110F"/>
                </a:solidFill>
                <a:latin typeface="Segoe UI"/>
              </a:rPr>
              <a:t>VPC.  </a:t>
            </a:r>
            <a:r>
              <a:rPr sz="1500" b="0" dirty="0">
                <a:solidFill>
                  <a:srgbClr val="3B3531"/>
                </a:solidFill>
                <a:latin typeface="Segoe UI"/>
              </a:rPr>
              <a:t>10.0.0.0/16 across 2 Availability Zones</a:t>
            </a:r>
            <a:r>
              <a:rPr lang="en-US" sz="1500" b="0" dirty="0">
                <a:solidFill>
                  <a:srgbClr val="3B3531"/>
                </a:solidFill>
                <a:latin typeface="Segoe UI"/>
              </a:rPr>
              <a:t>:</a:t>
            </a:r>
            <a:r>
              <a:rPr sz="1500" b="0" dirty="0">
                <a:solidFill>
                  <a:srgbClr val="3B3531"/>
                </a:solidFill>
                <a:latin typeface="Segoe UI"/>
              </a:rPr>
              <a:t> 2 public and 2 private subnets.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500" b="1" dirty="0">
                <a:solidFill>
                  <a:srgbClr val="7B1D2E"/>
                </a:solidFill>
                <a:latin typeface="Segoe UI"/>
              </a:rPr>
              <a:t>▪  </a:t>
            </a:r>
            <a:r>
              <a:rPr sz="1500" b="1" dirty="0">
                <a:solidFill>
                  <a:srgbClr val="15110F"/>
                </a:solidFill>
                <a:latin typeface="Segoe UI"/>
              </a:rPr>
              <a:t>Isolation.  </a:t>
            </a:r>
            <a:r>
              <a:rPr sz="1500" b="0" dirty="0">
                <a:solidFill>
                  <a:srgbClr val="3B3531"/>
                </a:solidFill>
                <a:latin typeface="Segoe UI"/>
              </a:rPr>
              <a:t>Services and databases sit in private subnets; only the ALB is public-facing.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500" b="1" dirty="0">
                <a:solidFill>
                  <a:srgbClr val="7B1D2E"/>
                </a:solidFill>
                <a:latin typeface="Segoe UI"/>
              </a:rPr>
              <a:t>▪  </a:t>
            </a:r>
            <a:r>
              <a:rPr sz="1500" b="1" dirty="0">
                <a:solidFill>
                  <a:srgbClr val="15110F"/>
                </a:solidFill>
                <a:latin typeface="Segoe UI"/>
              </a:rPr>
              <a:t>Security groups.  </a:t>
            </a:r>
            <a:r>
              <a:rPr sz="1500" b="0" dirty="0">
                <a:solidFill>
                  <a:srgbClr val="3B3531"/>
                </a:solidFill>
                <a:latin typeface="Segoe UI"/>
              </a:rPr>
              <a:t>Four tiered SGs</a:t>
            </a:r>
            <a:r>
              <a:rPr lang="en-US" sz="1500" b="0" dirty="0">
                <a:solidFill>
                  <a:srgbClr val="3B3531"/>
                </a:solidFill>
                <a:latin typeface="Segoe UI"/>
              </a:rPr>
              <a:t>:</a:t>
            </a:r>
            <a:r>
              <a:rPr sz="1500" b="0" dirty="0">
                <a:solidFill>
                  <a:srgbClr val="3B3531"/>
                </a:solidFill>
                <a:latin typeface="Segoe UI"/>
              </a:rPr>
              <a:t> ALB, services, RDS and the k6 load generator</a:t>
            </a:r>
            <a:r>
              <a:rPr lang="en-US" sz="1500" b="0" dirty="0">
                <a:solidFill>
                  <a:srgbClr val="3B3531"/>
                </a:solidFill>
                <a:latin typeface="Segoe UI"/>
              </a:rPr>
              <a:t>:</a:t>
            </a:r>
            <a:r>
              <a:rPr sz="1500" b="0" dirty="0">
                <a:solidFill>
                  <a:srgbClr val="3B3531"/>
                </a:solidFill>
                <a:latin typeface="Segoe UI"/>
              </a:rPr>
              <a:t> each allowing only what it must.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500" b="1" dirty="0">
                <a:solidFill>
                  <a:srgbClr val="7B1D2E"/>
                </a:solidFill>
                <a:latin typeface="Segoe UI"/>
              </a:rPr>
              <a:t>▪  </a:t>
            </a:r>
            <a:r>
              <a:rPr sz="1500" b="1" dirty="0">
                <a:solidFill>
                  <a:srgbClr val="15110F"/>
                </a:solidFill>
                <a:latin typeface="Segoe UI"/>
              </a:rPr>
              <a:t>Compute.  </a:t>
            </a:r>
            <a:r>
              <a:rPr sz="1500" b="0" dirty="0">
                <a:solidFill>
                  <a:srgbClr val="3B3531"/>
                </a:solidFill>
                <a:latin typeface="Segoe UI"/>
              </a:rPr>
              <a:t>ECS Fargate cluster, 0.25 vCPU / 0.5 GB per task, pulled from ECR.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500" b="1" dirty="0">
                <a:solidFill>
                  <a:srgbClr val="7B1D2E"/>
                </a:solidFill>
                <a:latin typeface="Segoe UI"/>
              </a:rPr>
              <a:t>▪  </a:t>
            </a:r>
            <a:r>
              <a:rPr sz="1500" b="1" dirty="0">
                <a:solidFill>
                  <a:srgbClr val="15110F"/>
                </a:solidFill>
                <a:latin typeface="Segoe UI"/>
              </a:rPr>
              <a:t>Single NAT gateway.  </a:t>
            </a:r>
            <a:r>
              <a:rPr sz="1500" b="0" dirty="0">
                <a:solidFill>
                  <a:srgbClr val="3B3531"/>
                </a:solidFill>
                <a:latin typeface="Segoe UI"/>
              </a:rPr>
              <a:t>One NAT in a single AZ keeps egress working while controlling cost.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96940" y="1914845"/>
            <a:ext cx="5654040" cy="321119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creenshot 2026-05-11 1940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952945"/>
            <a:ext cx="5577840" cy="31349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0" y="5349240"/>
            <a:ext cx="5577840" cy="2639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 dirty="0">
                <a:solidFill>
                  <a:srgbClr val="3B3531"/>
                </a:solidFill>
                <a:latin typeface="Segoe UI"/>
              </a:rPr>
              <a:t>Tiered security groups in the AWS console</a:t>
            </a:r>
            <a:r>
              <a:rPr lang="en-US" sz="1100" b="0" dirty="0">
                <a:solidFill>
                  <a:srgbClr val="3B3531"/>
                </a:solidFill>
                <a:latin typeface="Segoe UI"/>
              </a:rPr>
              <a:t>:</a:t>
            </a:r>
            <a:r>
              <a:rPr sz="1100" b="0" dirty="0">
                <a:solidFill>
                  <a:srgbClr val="3B3531"/>
                </a:solidFill>
                <a:latin typeface="Segoe UI"/>
              </a:rPr>
              <a:t> ALB, VPC, services and 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B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>
                <a:solidFill>
                  <a:srgbClr val="7B1D2E"/>
                </a:solidFill>
                <a:latin typeface="Segoe UI"/>
              </a:rPr>
              <a:t>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4241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>
                <a:solidFill>
                  <a:srgbClr val="15110F"/>
                </a:solidFill>
                <a:latin typeface="Segoe UI"/>
              </a:rPr>
              <a:t>Microservices &amp; API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05840" cy="45720"/>
          </a:xfrm>
          <a:prstGeom prst="rect">
            <a:avLst/>
          </a:prstGeom>
          <a:solidFill>
            <a:srgbClr val="557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55680" y="4114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7B1D2E"/>
                </a:solidFill>
                <a:latin typeface="Segoe UI"/>
              </a:rPr>
              <a:t>05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51206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500" b="1">
                <a:solidFill>
                  <a:srgbClr val="7B1D2E"/>
                </a:solidFill>
                <a:latin typeface="Segoe UI"/>
              </a:rPr>
              <a:t>▪  </a:t>
            </a:r>
            <a:r>
              <a:rPr sz="1500" b="1">
                <a:solidFill>
                  <a:srgbClr val="15110F"/>
                </a:solidFill>
                <a:latin typeface="Segoe UI"/>
              </a:rPr>
              <a:t>Catalog.  </a:t>
            </a:r>
            <a:r>
              <a:rPr sz="1500" b="0">
                <a:solidFill>
                  <a:srgbClr val="3B3531"/>
                </a:solidFill>
                <a:latin typeface="Segoe UI"/>
              </a:rPr>
              <a:t>Serves the product list and per-SKU lookups from RDS Postgres.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500" b="1">
                <a:solidFill>
                  <a:srgbClr val="7B1D2E"/>
                </a:solidFill>
                <a:latin typeface="Segoe UI"/>
              </a:rPr>
              <a:t>▪  </a:t>
            </a:r>
            <a:r>
              <a:rPr sz="1500" b="1">
                <a:solidFill>
                  <a:srgbClr val="15110F"/>
                </a:solidFill>
                <a:latin typeface="Segoe UI"/>
              </a:rPr>
              <a:t>Cart.  </a:t>
            </a:r>
            <a:r>
              <a:rPr sz="1500" b="0">
                <a:solidFill>
                  <a:srgbClr val="3B3531"/>
                </a:solidFill>
                <a:latin typeface="Segoe UI"/>
              </a:rPr>
              <a:t>Stores each session's bag as a nested item map in DynamoDB.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500" b="1">
                <a:solidFill>
                  <a:srgbClr val="7B1D2E"/>
                </a:solidFill>
                <a:latin typeface="Segoe UI"/>
              </a:rPr>
              <a:t>▪  </a:t>
            </a:r>
            <a:r>
              <a:rPr sz="1500" b="1">
                <a:solidFill>
                  <a:srgbClr val="15110F"/>
                </a:solidFill>
                <a:latin typeface="Segoe UI"/>
              </a:rPr>
              <a:t>Orders.  </a:t>
            </a:r>
            <a:r>
              <a:rPr sz="1500" b="0">
                <a:solidFill>
                  <a:srgbClr val="3B3531"/>
                </a:solidFill>
                <a:latin typeface="Segoe UI"/>
              </a:rPr>
              <a:t>Prices and persists orders, then queues them on SQS for fulfilment.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7B1D2E"/>
                </a:solidFill>
                <a:latin typeface="Segoe UI"/>
              </a:rPr>
              <a:t>KEY ENDPOINTS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80560"/>
            <a:ext cx="52120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00" b="1">
                <a:solidFill>
                  <a:srgbClr val="7B1D2E"/>
                </a:solidFill>
                <a:latin typeface="Segoe UI"/>
              </a:rPr>
              <a:t>▪  </a:t>
            </a:r>
            <a:r>
              <a:rPr sz="1300" b="0">
                <a:solidFill>
                  <a:srgbClr val="3B3531"/>
                </a:solidFill>
                <a:latin typeface="Segoe UI"/>
              </a:rPr>
              <a:t>GET  /catalog/products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00" b="1">
                <a:solidFill>
                  <a:srgbClr val="7B1D2E"/>
                </a:solidFill>
                <a:latin typeface="Segoe UI"/>
              </a:rPr>
              <a:t>▪  </a:t>
            </a:r>
            <a:r>
              <a:rPr sz="1300" b="0">
                <a:solidFill>
                  <a:srgbClr val="3B3531"/>
                </a:solidFill>
                <a:latin typeface="Segoe UI"/>
              </a:rPr>
              <a:t>GET / POST  /cart/sessions/{userId}/items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00" b="1">
                <a:solidFill>
                  <a:srgbClr val="7B1D2E"/>
                </a:solidFill>
                <a:latin typeface="Segoe UI"/>
              </a:rPr>
              <a:t>▪  </a:t>
            </a:r>
            <a:r>
              <a:rPr sz="1300" b="0">
                <a:solidFill>
                  <a:srgbClr val="3B3531"/>
                </a:solidFill>
                <a:latin typeface="Segoe UI"/>
              </a:rPr>
              <a:t>POST  /orders  →  { orderId, total_cents, status 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96940" y="1960565"/>
            <a:ext cx="5654040" cy="321119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Screenshot 2026-05-10 2350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998665"/>
            <a:ext cx="5577840" cy="313499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35040" y="544068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3B3531"/>
                </a:solidFill>
                <a:latin typeface="Segoe UI"/>
              </a:rPr>
              <a:t>Live response from GET /catalog/products through the ALB.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0480"/>
            <a:ext cx="12191695" cy="6858000"/>
          </a:xfrm>
          <a:prstGeom prst="rect">
            <a:avLst/>
          </a:prstGeom>
          <a:solidFill>
            <a:srgbClr val="F6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B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>
                <a:solidFill>
                  <a:srgbClr val="7B1D2E"/>
                </a:solidFill>
                <a:latin typeface="Segoe UI"/>
              </a:rPr>
              <a:t>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4241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>
                <a:solidFill>
                  <a:srgbClr val="15110F"/>
                </a:solidFill>
                <a:latin typeface="Segoe UI"/>
              </a:rPr>
              <a:t>The GIKI Mart Storefront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05840" cy="45720"/>
          </a:xfrm>
          <a:prstGeom prst="rect">
            <a:avLst/>
          </a:prstGeom>
          <a:solidFill>
            <a:srgbClr val="557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55680" y="4114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7B1D2E"/>
                </a:solidFill>
                <a:latin typeface="Segoe UI"/>
              </a:rPr>
              <a:t>06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51206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500" b="1" dirty="0">
                <a:solidFill>
                  <a:srgbClr val="7B1D2E"/>
                </a:solidFill>
                <a:latin typeface="Segoe UI"/>
              </a:rPr>
              <a:t>▪  </a:t>
            </a:r>
            <a:r>
              <a:rPr sz="1500" b="1" dirty="0">
                <a:solidFill>
                  <a:srgbClr val="15110F"/>
                </a:solidFill>
                <a:latin typeface="Segoe UI"/>
              </a:rPr>
              <a:t>Hosted on S3.  </a:t>
            </a:r>
            <a:r>
              <a:rPr sz="1500" b="0" dirty="0">
                <a:solidFill>
                  <a:srgbClr val="3B3531"/>
                </a:solidFill>
                <a:latin typeface="Segoe UI"/>
              </a:rPr>
              <a:t>A static storefront served as an S3 website — no servers to manage.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500" b="1" dirty="0">
                <a:solidFill>
                  <a:srgbClr val="7B1D2E"/>
                </a:solidFill>
                <a:latin typeface="Segoe UI"/>
              </a:rPr>
              <a:t>▪  </a:t>
            </a:r>
            <a:r>
              <a:rPr sz="1500" b="1" dirty="0">
                <a:solidFill>
                  <a:srgbClr val="15110F"/>
                </a:solidFill>
                <a:latin typeface="Segoe UI"/>
              </a:rPr>
              <a:t>Talks to the ALB.  </a:t>
            </a:r>
            <a:r>
              <a:rPr sz="1500" b="0" dirty="0">
                <a:solidFill>
                  <a:srgbClr val="3B3531"/>
                </a:solidFill>
                <a:latin typeface="Segoe UI"/>
              </a:rPr>
              <a:t>The page calls the live backend with fetch(), exercising all three services.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500" b="1" dirty="0">
                <a:solidFill>
                  <a:srgbClr val="7B1D2E"/>
                </a:solidFill>
                <a:latin typeface="Segoe UI"/>
              </a:rPr>
              <a:t>▪  </a:t>
            </a:r>
            <a:r>
              <a:rPr sz="1500" b="1" dirty="0">
                <a:solidFill>
                  <a:srgbClr val="15110F"/>
                </a:solidFill>
                <a:latin typeface="Segoe UI"/>
              </a:rPr>
              <a:t>Full shopping flow.  </a:t>
            </a:r>
            <a:r>
              <a:rPr sz="1500" b="0" dirty="0">
                <a:solidFill>
                  <a:srgbClr val="3B3531"/>
                </a:solidFill>
                <a:latin typeface="Segoe UI"/>
              </a:rPr>
              <a:t>Browse the catalog, add to cart, and place an order end to end.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500" b="1" dirty="0">
                <a:solidFill>
                  <a:srgbClr val="7B1D2E"/>
                </a:solidFill>
                <a:latin typeface="Segoe UI"/>
              </a:rPr>
              <a:t>▪  </a:t>
            </a:r>
            <a:r>
              <a:rPr sz="1500" b="1" dirty="0">
                <a:solidFill>
                  <a:srgbClr val="15110F"/>
                </a:solidFill>
                <a:latin typeface="Segoe UI"/>
              </a:rPr>
              <a:t>Deploy-time config.  </a:t>
            </a:r>
            <a:r>
              <a:rPr sz="1500" b="0" dirty="0">
                <a:solidFill>
                  <a:srgbClr val="3B3531"/>
                </a:solidFill>
                <a:latin typeface="Segoe UI"/>
              </a:rPr>
              <a:t>An __ALB_DNS__ placeholder is swapped for the live load balancer DNS at deploy.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500" b="1" dirty="0">
                <a:solidFill>
                  <a:srgbClr val="7B1D2E"/>
                </a:solidFill>
                <a:latin typeface="Segoe UI"/>
              </a:rPr>
              <a:t>▪  </a:t>
            </a:r>
            <a:r>
              <a:rPr sz="1500" b="1" dirty="0">
                <a:solidFill>
                  <a:srgbClr val="15110F"/>
                </a:solidFill>
                <a:latin typeface="Segoe UI"/>
              </a:rPr>
              <a:t>Proof it works.  </a:t>
            </a:r>
            <a:r>
              <a:rPr sz="1500" b="0" dirty="0">
                <a:solidFill>
                  <a:srgbClr val="3B3531"/>
                </a:solidFill>
                <a:latin typeface="Segoe UI"/>
              </a:rPr>
              <a:t>Orders placed from the browser are accepted, priced and queued in milliseconds.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96940" y="1960565"/>
            <a:ext cx="5654040" cy="321119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creenshot 2026-05-11 2013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998665"/>
            <a:ext cx="5577840" cy="31349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0" y="5440680"/>
            <a:ext cx="5577840" cy="2639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 dirty="0">
                <a:solidFill>
                  <a:srgbClr val="3B3531"/>
                </a:solidFill>
                <a:latin typeface="Segoe UI"/>
              </a:rPr>
              <a:t>An order placed from the storefront</a:t>
            </a:r>
            <a:r>
              <a:rPr lang="en-US" sz="1100" b="0" dirty="0">
                <a:solidFill>
                  <a:srgbClr val="3B3531"/>
                </a:solidFill>
                <a:latin typeface="Segoe UI"/>
              </a:rPr>
              <a:t>: </a:t>
            </a:r>
            <a:r>
              <a:rPr sz="1100" b="0" dirty="0">
                <a:solidFill>
                  <a:srgbClr val="3B3531"/>
                </a:solidFill>
                <a:latin typeface="Segoe UI"/>
              </a:rPr>
              <a:t>accepted and queued in 37</a:t>
            </a:r>
            <a:r>
              <a:rPr lang="en-US" sz="1100" b="0" dirty="0">
                <a:solidFill>
                  <a:srgbClr val="3B3531"/>
                </a:solidFill>
                <a:latin typeface="Segoe UI"/>
              </a:rPr>
              <a:t>2</a:t>
            </a:r>
            <a:r>
              <a:rPr sz="1100" b="0" dirty="0">
                <a:solidFill>
                  <a:srgbClr val="3B3531"/>
                </a:solidFill>
                <a:latin typeface="Segoe UI"/>
              </a:rPr>
              <a:t>2 </a:t>
            </a:r>
            <a:r>
              <a:rPr sz="1100" b="0" dirty="0" err="1">
                <a:solidFill>
                  <a:srgbClr val="3B3531"/>
                </a:solidFill>
                <a:latin typeface="Segoe UI"/>
              </a:rPr>
              <a:t>ms.</a:t>
            </a:r>
            <a:endParaRPr sz="1100" b="0" dirty="0">
              <a:solidFill>
                <a:srgbClr val="3B3531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B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>
                <a:solidFill>
                  <a:srgbClr val="7B1D2E"/>
                </a:solidFill>
                <a:latin typeface="Segoe UI"/>
              </a:rPr>
              <a:t>RESILIENCE ·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4241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>
                <a:solidFill>
                  <a:srgbClr val="15110F"/>
                </a:solidFill>
                <a:latin typeface="Segoe UI"/>
              </a:rPr>
              <a:t>Load Testing &amp; Auto-Scaling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05840" cy="45720"/>
          </a:xfrm>
          <a:prstGeom prst="rect">
            <a:avLst/>
          </a:prstGeom>
          <a:solidFill>
            <a:srgbClr val="557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55680" y="4114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7B1D2E"/>
                </a:solidFill>
                <a:latin typeface="Segoe UI"/>
              </a:rPr>
              <a:t>07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484632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400" b="1">
                <a:solidFill>
                  <a:srgbClr val="7B1D2E"/>
                </a:solidFill>
                <a:latin typeface="Segoe UI"/>
              </a:rPr>
              <a:t>▪  </a:t>
            </a:r>
            <a:r>
              <a:rPr sz="1400" b="1">
                <a:solidFill>
                  <a:srgbClr val="15110F"/>
                </a:solidFill>
                <a:latin typeface="Segoe UI"/>
              </a:rPr>
              <a:t>Load generator.  </a:t>
            </a:r>
            <a:r>
              <a:rPr sz="1400" b="0">
                <a:solidFill>
                  <a:srgbClr val="3B3531"/>
                </a:solidFill>
                <a:latin typeface="Segoe UI"/>
              </a:rPr>
              <a:t>A dedicated k6 EC2 instance drives traffic at the ALB.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400" b="1">
                <a:solidFill>
                  <a:srgbClr val="7B1D2E"/>
                </a:solidFill>
                <a:latin typeface="Segoe UI"/>
              </a:rPr>
              <a:t>▪  </a:t>
            </a:r>
            <a:r>
              <a:rPr sz="1400" b="1">
                <a:solidFill>
                  <a:srgbClr val="15110F"/>
                </a:solidFill>
                <a:latin typeface="Segoe UI"/>
              </a:rPr>
              <a:t>Baseline.  </a:t>
            </a:r>
            <a:r>
              <a:rPr sz="1400" b="0">
                <a:solidFill>
                  <a:srgbClr val="3B3531"/>
                </a:solidFill>
                <a:latin typeface="Segoe UI"/>
              </a:rPr>
              <a:t>20 virtual users for 5 minutes establishes a healthy baseline.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400" b="1">
                <a:solidFill>
                  <a:srgbClr val="7B1D2E"/>
                </a:solidFill>
                <a:latin typeface="Segoe UI"/>
              </a:rPr>
              <a:t>▪  </a:t>
            </a:r>
            <a:r>
              <a:rPr sz="1400" b="1">
                <a:solidFill>
                  <a:srgbClr val="15110F"/>
                </a:solidFill>
                <a:latin typeface="Segoe UI"/>
              </a:rPr>
              <a:t>Stress.  </a:t>
            </a:r>
            <a:r>
              <a:rPr sz="1400" b="0">
                <a:solidFill>
                  <a:srgbClr val="3B3531"/>
                </a:solidFill>
                <a:latin typeface="Segoe UI"/>
              </a:rPr>
              <a:t>A catalog-heavy stress test pushes CPU past the 60% scaling threshold.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400" b="1">
                <a:solidFill>
                  <a:srgbClr val="7B1D2E"/>
                </a:solidFill>
                <a:latin typeface="Segoe UI"/>
              </a:rPr>
              <a:t>▪  </a:t>
            </a:r>
            <a:r>
              <a:rPr sz="1400" b="1">
                <a:solidFill>
                  <a:srgbClr val="15110F"/>
                </a:solidFill>
                <a:latin typeface="Segoe UI"/>
              </a:rPr>
              <a:t>Auto-scaling.  </a:t>
            </a:r>
            <a:r>
              <a:rPr sz="1400" b="0">
                <a:solidFill>
                  <a:srgbClr val="3B3531"/>
                </a:solidFill>
                <a:latin typeface="Segoe UI"/>
              </a:rPr>
              <a:t>ECS provisions extra tasks automatically; ~6–9 minutes end to end by design, to avoid thrashing on brief spikes.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400" b="1">
                <a:solidFill>
                  <a:srgbClr val="7B1D2E"/>
                </a:solidFill>
                <a:latin typeface="Segoe UI"/>
              </a:rPr>
              <a:t>▪  </a:t>
            </a:r>
            <a:r>
              <a:rPr sz="1400" b="1">
                <a:solidFill>
                  <a:srgbClr val="15110F"/>
                </a:solidFill>
                <a:latin typeface="Segoe UI"/>
              </a:rPr>
              <a:t>Result.  </a:t>
            </a:r>
            <a:r>
              <a:rPr sz="1400" b="0">
                <a:solidFill>
                  <a:srgbClr val="3B3531"/>
                </a:solidFill>
                <a:latin typeface="Segoe UI"/>
              </a:rPr>
              <a:t>The service absorbs the spike and scales back down once it passes.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782790" y="1744980"/>
            <a:ext cx="3899460" cy="2225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20890" y="1789377"/>
            <a:ext cx="3823260" cy="213624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782790" y="4030980"/>
            <a:ext cx="3899460" cy="2225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Screenshot 2026-05-11 17545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0890" y="4069080"/>
            <a:ext cx="3823260" cy="2148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52160" y="626364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3B3531"/>
                </a:solidFill>
                <a:latin typeface="Segoe UI"/>
              </a:rPr>
              <a:t>k6 load run (top) and the CloudWatch dashboard showing the CPU spike and scaling response (bottom).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160"/>
            <a:ext cx="12191695" cy="6858000"/>
          </a:xfrm>
          <a:prstGeom prst="rect">
            <a:avLst/>
          </a:prstGeom>
          <a:solidFill>
            <a:srgbClr val="F6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B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>
                <a:solidFill>
                  <a:srgbClr val="7B1D2E"/>
                </a:solidFill>
                <a:latin typeface="Segoe UI"/>
              </a:rPr>
              <a:t>RESILIENCE · 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4241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>
                <a:solidFill>
                  <a:srgbClr val="15110F"/>
                </a:solidFill>
                <a:latin typeface="Segoe UI"/>
              </a:rPr>
              <a:t>Chaos Experiment 1 — Task Termination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05840" cy="45720"/>
          </a:xfrm>
          <a:prstGeom prst="rect">
            <a:avLst/>
          </a:prstGeom>
          <a:solidFill>
            <a:srgbClr val="557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55680" y="4114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7B1D2E"/>
                </a:solidFill>
                <a:latin typeface="Segoe UI"/>
              </a:rPr>
              <a:t>08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484632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300"/>
              </a:spcAft>
            </a:pPr>
            <a:r>
              <a:rPr sz="1400" b="1">
                <a:solidFill>
                  <a:srgbClr val="7B1D2E"/>
                </a:solidFill>
                <a:latin typeface="Segoe UI"/>
              </a:rPr>
              <a:t>▪  </a:t>
            </a:r>
            <a:r>
              <a:rPr sz="1400" b="1">
                <a:solidFill>
                  <a:srgbClr val="15110F"/>
                </a:solidFill>
                <a:latin typeface="Segoe UI"/>
              </a:rPr>
              <a:t>The experiment.  </a:t>
            </a:r>
            <a:r>
              <a:rPr sz="1400" b="0">
                <a:solidFill>
                  <a:srgbClr val="3B3531"/>
                </a:solidFill>
                <a:latin typeface="Segoe UI"/>
              </a:rPr>
              <a:t>chaos/kill-task.sh forcibly terminates a live Catalog task.</a:t>
            </a:r>
          </a:p>
          <a:p>
            <a:pPr algn="l">
              <a:lnSpc>
                <a:spcPct val="115000"/>
              </a:lnSpc>
              <a:spcAft>
                <a:spcPts val="1300"/>
              </a:spcAft>
            </a:pPr>
            <a:r>
              <a:rPr sz="1400" b="1">
                <a:solidFill>
                  <a:srgbClr val="7B1D2E"/>
                </a:solidFill>
                <a:latin typeface="Segoe UI"/>
              </a:rPr>
              <a:t>▪  </a:t>
            </a:r>
            <a:r>
              <a:rPr sz="1400" b="1">
                <a:solidFill>
                  <a:srgbClr val="15110F"/>
                </a:solidFill>
                <a:latin typeface="Segoe UI"/>
              </a:rPr>
              <a:t>Hypothesis.  </a:t>
            </a:r>
            <a:r>
              <a:rPr sz="1400" b="0">
                <a:solidFill>
                  <a:srgbClr val="3B3531"/>
                </a:solidFill>
                <a:latin typeface="Segoe UI"/>
              </a:rPr>
              <a:t>The ALB drains the dead target and ECS restores the task within ~90 seconds.</a:t>
            </a:r>
          </a:p>
          <a:p>
            <a:pPr algn="l">
              <a:lnSpc>
                <a:spcPct val="115000"/>
              </a:lnSpc>
              <a:spcAft>
                <a:spcPts val="1300"/>
              </a:spcAft>
            </a:pPr>
            <a:r>
              <a:rPr sz="1400" b="1">
                <a:solidFill>
                  <a:srgbClr val="7B1D2E"/>
                </a:solidFill>
                <a:latin typeface="Segoe UI"/>
              </a:rPr>
              <a:t>▪  </a:t>
            </a:r>
            <a:r>
              <a:rPr sz="1400" b="1">
                <a:solidFill>
                  <a:srgbClr val="15110F"/>
                </a:solidFill>
                <a:latin typeface="Segoe UI"/>
              </a:rPr>
              <a:t>What happened.  </a:t>
            </a:r>
            <a:r>
              <a:rPr sz="1400" b="0">
                <a:solidFill>
                  <a:srgbClr val="3B3531"/>
                </a:solidFill>
                <a:latin typeface="Segoe UI"/>
              </a:rPr>
              <a:t>Task count dropped, then recovered automatically in about 2 minutes.</a:t>
            </a:r>
          </a:p>
          <a:p>
            <a:pPr algn="l">
              <a:lnSpc>
                <a:spcPct val="115000"/>
              </a:lnSpc>
              <a:spcAft>
                <a:spcPts val="1300"/>
              </a:spcAft>
            </a:pPr>
            <a:r>
              <a:rPr sz="1400" b="1">
                <a:solidFill>
                  <a:srgbClr val="7B1D2E"/>
                </a:solidFill>
                <a:latin typeface="Segoe UI"/>
              </a:rPr>
              <a:t>▪  </a:t>
            </a:r>
            <a:r>
              <a:rPr sz="1400" b="1">
                <a:solidFill>
                  <a:srgbClr val="15110F"/>
                </a:solidFill>
                <a:latin typeface="Segoe UI"/>
              </a:rPr>
              <a:t>User impact.  </a:t>
            </a:r>
            <a:r>
              <a:rPr sz="1400" b="0">
                <a:solidFill>
                  <a:srgbClr val="3B3531"/>
                </a:solidFill>
                <a:latin typeface="Segoe UI"/>
              </a:rPr>
              <a:t>Zero 5xx errors throughout — healthy tasks absorbed every request.</a:t>
            </a:r>
          </a:p>
          <a:p>
            <a:pPr algn="l">
              <a:lnSpc>
                <a:spcPct val="115000"/>
              </a:lnSpc>
              <a:spcAft>
                <a:spcPts val="1300"/>
              </a:spcAft>
            </a:pPr>
            <a:r>
              <a:rPr sz="1400" b="1">
                <a:solidFill>
                  <a:srgbClr val="7B1D2E"/>
                </a:solidFill>
                <a:latin typeface="Segoe UI"/>
              </a:rPr>
              <a:t>▪  </a:t>
            </a:r>
            <a:r>
              <a:rPr sz="1400" b="1">
                <a:solidFill>
                  <a:srgbClr val="15110F"/>
                </a:solidFill>
                <a:latin typeface="Segoe UI"/>
              </a:rPr>
              <a:t>Takeaway.  </a:t>
            </a:r>
            <a:r>
              <a:rPr sz="1400" b="0">
                <a:solidFill>
                  <a:srgbClr val="3B3531"/>
                </a:solidFill>
                <a:latin typeface="Segoe UI"/>
              </a:rPr>
              <a:t>The system self-heals from an instance failure with no human intervention.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781015" y="1744980"/>
            <a:ext cx="3903010" cy="2225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creenshot 2026-05-11 1916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9115" y="1783080"/>
            <a:ext cx="3826810" cy="21488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782790" y="4030980"/>
            <a:ext cx="3899460" cy="2225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task-ki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0890" y="4069080"/>
            <a:ext cx="3823260" cy="2148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52160" y="626364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3B3531"/>
                </a:solidFill>
                <a:latin typeface="Segoe UI"/>
              </a:rPr>
              <a:t>kill-task.sh terminating a task (top); CloudWatch task count recovering with no 5xx errors (bottom).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160"/>
            <a:ext cx="12191695" cy="6858000"/>
          </a:xfrm>
          <a:prstGeom prst="rect">
            <a:avLst/>
          </a:prstGeom>
          <a:solidFill>
            <a:srgbClr val="F6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B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>
                <a:solidFill>
                  <a:srgbClr val="7B1D2E"/>
                </a:solidFill>
                <a:latin typeface="Segoe UI"/>
              </a:rPr>
              <a:t>RESILIENCE · 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4241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>
                <a:solidFill>
                  <a:srgbClr val="15110F"/>
                </a:solidFill>
                <a:latin typeface="Segoe UI"/>
              </a:rPr>
              <a:t>Chaos Experiment 2 — Latency Injection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05840" cy="45720"/>
          </a:xfrm>
          <a:prstGeom prst="rect">
            <a:avLst/>
          </a:prstGeom>
          <a:solidFill>
            <a:srgbClr val="557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55680" y="4114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7B1D2E"/>
                </a:solidFill>
                <a:latin typeface="Segoe UI"/>
              </a:rPr>
              <a:t>09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5029200" cy="3215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300"/>
              </a:spcAft>
            </a:pPr>
            <a:r>
              <a:rPr sz="1400" b="1" dirty="0">
                <a:solidFill>
                  <a:srgbClr val="7B1D2E"/>
                </a:solidFill>
                <a:latin typeface="Segoe UI"/>
              </a:rPr>
              <a:t>▪  </a:t>
            </a:r>
            <a:r>
              <a:rPr sz="1400" b="1" dirty="0">
                <a:solidFill>
                  <a:srgbClr val="15110F"/>
                </a:solidFill>
                <a:latin typeface="Segoe UI"/>
              </a:rPr>
              <a:t>The experiment.  </a:t>
            </a:r>
            <a:r>
              <a:rPr sz="1400" b="0" dirty="0">
                <a:solidFill>
                  <a:srgbClr val="3B3531"/>
                </a:solidFill>
                <a:latin typeface="Segoe UI"/>
              </a:rPr>
              <a:t>chaos/latency.sh injects 500 </a:t>
            </a:r>
            <a:r>
              <a:rPr sz="1400" b="0" dirty="0" err="1">
                <a:solidFill>
                  <a:srgbClr val="3B3531"/>
                </a:solidFill>
                <a:latin typeface="Segoe UI"/>
              </a:rPr>
              <a:t>ms</a:t>
            </a:r>
            <a:r>
              <a:rPr sz="1400" b="0" dirty="0">
                <a:solidFill>
                  <a:srgbClr val="3B3531"/>
                </a:solidFill>
                <a:latin typeface="Segoe UI"/>
              </a:rPr>
              <a:t> of delay into the Orders service via an env-var rollout.</a:t>
            </a:r>
          </a:p>
          <a:p>
            <a:pPr algn="l">
              <a:lnSpc>
                <a:spcPct val="115000"/>
              </a:lnSpc>
              <a:spcAft>
                <a:spcPts val="1300"/>
              </a:spcAft>
            </a:pPr>
            <a:r>
              <a:rPr sz="1400" b="1" dirty="0">
                <a:solidFill>
                  <a:srgbClr val="7B1D2E"/>
                </a:solidFill>
                <a:latin typeface="Segoe UI"/>
              </a:rPr>
              <a:t>▪  </a:t>
            </a:r>
            <a:r>
              <a:rPr sz="1400" b="1" dirty="0">
                <a:solidFill>
                  <a:srgbClr val="15110F"/>
                </a:solidFill>
                <a:latin typeface="Segoe UI"/>
              </a:rPr>
              <a:t>Hypothesis.  </a:t>
            </a:r>
            <a:r>
              <a:rPr sz="1400" b="0" dirty="0">
                <a:solidFill>
                  <a:srgbClr val="3B3531"/>
                </a:solidFill>
                <a:latin typeface="Segoe UI"/>
              </a:rPr>
              <a:t>Orders' p95 latency climbs sharply while Cart and Catalog stay untouched.</a:t>
            </a:r>
          </a:p>
          <a:p>
            <a:pPr algn="l">
              <a:lnSpc>
                <a:spcPct val="115000"/>
              </a:lnSpc>
              <a:spcAft>
                <a:spcPts val="1300"/>
              </a:spcAft>
            </a:pPr>
            <a:r>
              <a:rPr sz="1400" b="1" dirty="0">
                <a:solidFill>
                  <a:srgbClr val="7B1D2E"/>
                </a:solidFill>
                <a:latin typeface="Segoe UI"/>
              </a:rPr>
              <a:t>▪  </a:t>
            </a:r>
            <a:r>
              <a:rPr sz="1400" b="1" dirty="0">
                <a:solidFill>
                  <a:srgbClr val="15110F"/>
                </a:solidFill>
                <a:latin typeface="Segoe UI"/>
              </a:rPr>
              <a:t>What happened.  </a:t>
            </a:r>
            <a:r>
              <a:rPr sz="1400" b="0" dirty="0">
                <a:solidFill>
                  <a:srgbClr val="3B3531"/>
                </a:solidFill>
                <a:latin typeface="Segoe UI"/>
              </a:rPr>
              <a:t>Orders slowed as expected; the other two services were completely unaffected.</a:t>
            </a:r>
          </a:p>
          <a:p>
            <a:pPr algn="l">
              <a:lnSpc>
                <a:spcPct val="115000"/>
              </a:lnSpc>
              <a:spcAft>
                <a:spcPts val="1300"/>
              </a:spcAft>
            </a:pPr>
            <a:r>
              <a:rPr sz="1400" b="1" dirty="0">
                <a:solidFill>
                  <a:srgbClr val="7B1D2E"/>
                </a:solidFill>
                <a:latin typeface="Segoe UI"/>
              </a:rPr>
              <a:t>▪  </a:t>
            </a:r>
            <a:r>
              <a:rPr sz="1400" b="1" dirty="0">
                <a:solidFill>
                  <a:srgbClr val="15110F"/>
                </a:solidFill>
                <a:latin typeface="Segoe UI"/>
              </a:rPr>
              <a:t>Fault isolation.  </a:t>
            </a:r>
            <a:r>
              <a:rPr sz="1400" b="0" dirty="0">
                <a:solidFill>
                  <a:srgbClr val="3B3531"/>
                </a:solidFill>
                <a:latin typeface="Segoe UI"/>
              </a:rPr>
              <a:t>Because each service scales and runs independently, the slowdown never spread.</a:t>
            </a:r>
          </a:p>
          <a:p>
            <a:pPr algn="l">
              <a:lnSpc>
                <a:spcPct val="115000"/>
              </a:lnSpc>
              <a:spcAft>
                <a:spcPts val="1300"/>
              </a:spcAft>
            </a:pPr>
            <a:r>
              <a:rPr sz="1400" b="1" dirty="0">
                <a:solidFill>
                  <a:srgbClr val="7B1D2E"/>
                </a:solidFill>
                <a:latin typeface="Segoe UI"/>
              </a:rPr>
              <a:t>▪  </a:t>
            </a:r>
            <a:r>
              <a:rPr sz="1400" b="1" dirty="0">
                <a:solidFill>
                  <a:srgbClr val="15110F"/>
                </a:solidFill>
                <a:latin typeface="Segoe UI"/>
              </a:rPr>
              <a:t>Takeaway.  </a:t>
            </a:r>
            <a:r>
              <a:rPr sz="1400" b="0" dirty="0">
                <a:solidFill>
                  <a:srgbClr val="3B3531"/>
                </a:solidFill>
                <a:latin typeface="Segoe UI"/>
              </a:rPr>
              <a:t>A degraded dependency stays contained</a:t>
            </a:r>
            <a:r>
              <a:rPr lang="en-US" sz="1400" b="0" dirty="0">
                <a:solidFill>
                  <a:srgbClr val="3B3531"/>
                </a:solidFill>
                <a:latin typeface="Segoe UI"/>
              </a:rPr>
              <a:t>:</a:t>
            </a:r>
            <a:r>
              <a:rPr sz="1400" b="0" dirty="0">
                <a:solidFill>
                  <a:srgbClr val="3B3531"/>
                </a:solidFill>
                <a:latin typeface="Segoe UI"/>
              </a:rPr>
              <a:t> it does not become a system-wide outage.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3812" y="6002673"/>
            <a:ext cx="5669280" cy="5270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en-US" sz="1100" b="0" dirty="0">
                <a:solidFill>
                  <a:srgbClr val="3B3531"/>
                </a:solidFill>
                <a:latin typeface="Segoe UI"/>
              </a:rPr>
              <a:t>T</a:t>
            </a:r>
            <a:r>
              <a:rPr sz="1100" b="0" dirty="0">
                <a:solidFill>
                  <a:srgbClr val="3B3531"/>
                </a:solidFill>
                <a:latin typeface="Segoe UI"/>
              </a:rPr>
              <a:t>he impact stays isolated to one service</a:t>
            </a:r>
            <a:r>
              <a:rPr lang="en-US" sz="1100" b="0" dirty="0">
                <a:solidFill>
                  <a:srgbClr val="3B3531"/>
                </a:solidFill>
                <a:latin typeface="Segoe UI"/>
              </a:rPr>
              <a:t> during latency injection</a:t>
            </a:r>
            <a:r>
              <a:rPr sz="1100" b="0" dirty="0">
                <a:solidFill>
                  <a:srgbClr val="3B3531"/>
                </a:solidFill>
                <a:latin typeface="Segoe UI"/>
              </a:rPr>
              <a:t>.</a:t>
            </a:r>
            <a:endParaRPr lang="en-US" sz="1100" b="0" dirty="0">
              <a:solidFill>
                <a:srgbClr val="3B3531"/>
              </a:solidFill>
              <a:latin typeface="Segoe UI"/>
            </a:endParaRP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en-US" sz="1100" dirty="0">
                <a:solidFill>
                  <a:srgbClr val="3B3531"/>
                </a:solidFill>
                <a:latin typeface="Segoe UI"/>
              </a:rPr>
              <a:t>(upto 11x reduced)</a:t>
            </a:r>
            <a:endParaRPr sz="1100" b="0" dirty="0">
              <a:solidFill>
                <a:srgbClr val="3B3531"/>
              </a:solidFill>
              <a:latin typeface="Segoe UI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7DDDC40-4EE1-952F-AAF8-193B12FE2A0F}"/>
              </a:ext>
            </a:extLst>
          </p:cNvPr>
          <p:cNvSpPr/>
          <p:nvPr/>
        </p:nvSpPr>
        <p:spPr>
          <a:xfrm>
            <a:off x="7648910" y="1464201"/>
            <a:ext cx="3903010" cy="2225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DFD174C-D6BB-95EC-63F2-8C7A3E7833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688785" y="1502301"/>
            <a:ext cx="3823260" cy="214884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44E4FBC-373D-3487-8F92-229370DFCA44}"/>
              </a:ext>
            </a:extLst>
          </p:cNvPr>
          <p:cNvSpPr/>
          <p:nvPr/>
        </p:nvSpPr>
        <p:spPr>
          <a:xfrm>
            <a:off x="7650685" y="3750201"/>
            <a:ext cx="3899460" cy="2225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C058344-7EBD-E075-E6CA-FDEA04F93C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88785" y="3788301"/>
            <a:ext cx="3823260" cy="214883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B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>
                <a:solidFill>
                  <a:srgbClr val="7B1D2E"/>
                </a:solidFill>
                <a:latin typeface="Segoe UI"/>
              </a:rPr>
              <a:t>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4241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>
                <a:solidFill>
                  <a:srgbClr val="15110F"/>
                </a:solidFill>
                <a:latin typeface="Segoe UI"/>
              </a:rPr>
              <a:t>Observability, Results &amp; 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05840" cy="45720"/>
          </a:xfrm>
          <a:prstGeom prst="rect">
            <a:avLst/>
          </a:prstGeom>
          <a:solidFill>
            <a:srgbClr val="557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55680" y="4114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7B1D2E"/>
                </a:solidFill>
                <a:latin typeface="Segoe UI"/>
              </a:rPr>
              <a:t>10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493776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400" b="1">
                <a:solidFill>
                  <a:srgbClr val="7B1D2E"/>
                </a:solidFill>
                <a:latin typeface="Segoe UI"/>
              </a:rPr>
              <a:t>▪  </a:t>
            </a:r>
            <a:r>
              <a:rPr sz="1400" b="1">
                <a:solidFill>
                  <a:srgbClr val="15110F"/>
                </a:solidFill>
                <a:latin typeface="Segoe UI"/>
              </a:rPr>
              <a:t>Observability.  </a:t>
            </a:r>
            <a:r>
              <a:rPr sz="1400" b="0">
                <a:solidFill>
                  <a:srgbClr val="3B3531"/>
                </a:solidFill>
                <a:latin typeface="Segoe UI"/>
              </a:rPr>
              <a:t>A 4-widget CloudWatch dashboard plus 3 alarms cover CPU, 5xx, task count and queue depth.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400" b="1">
                <a:solidFill>
                  <a:srgbClr val="7B1D2E"/>
                </a:solidFill>
                <a:latin typeface="Segoe UI"/>
              </a:rPr>
              <a:t>▪  </a:t>
            </a:r>
            <a:r>
              <a:rPr sz="1400" b="1">
                <a:solidFill>
                  <a:srgbClr val="15110F"/>
                </a:solidFill>
                <a:latin typeface="Segoe UI"/>
              </a:rPr>
              <a:t>Monitored live.  </a:t>
            </a:r>
            <a:r>
              <a:rPr sz="1400" b="0">
                <a:solidFill>
                  <a:srgbClr val="3B3531"/>
                </a:solidFill>
                <a:latin typeface="Segoe UI"/>
              </a:rPr>
              <a:t>Every load and chaos test was watched on this dashboard in real 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77639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7B1D2E"/>
                </a:solidFill>
                <a:latin typeface="Segoe UI"/>
              </a:rPr>
              <a:t>KEY RESULTS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343400"/>
            <a:ext cx="23317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4398264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7B1D2E"/>
                </a:solidFill>
                <a:latin typeface="Segoe UI"/>
              </a:rPr>
              <a:t>~14 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818888"/>
            <a:ext cx="21031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3B3531"/>
                </a:solidFill>
                <a:latin typeface="Segoe UI"/>
              </a:rPr>
              <a:t>Baseline p95 latency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54680" y="4343400"/>
            <a:ext cx="23317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91840" y="4398264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7B1D2E"/>
                </a:solidFill>
                <a:latin typeface="Segoe UI"/>
              </a:rPr>
              <a:t>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4818888"/>
            <a:ext cx="21031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3B3531"/>
                </a:solidFill>
                <a:latin typeface="Segoe UI"/>
              </a:rPr>
              <a:t>5xx errors under chaos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303520"/>
            <a:ext cx="23317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5358384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7B1D2E"/>
                </a:solidFill>
                <a:latin typeface="Segoe UI"/>
              </a:rPr>
              <a:t>~2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779008"/>
            <a:ext cx="21031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3B3531"/>
                </a:solidFill>
                <a:latin typeface="Segoe UI"/>
              </a:rPr>
              <a:t>Task-kill recovery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54680" y="5303520"/>
            <a:ext cx="23317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91840" y="5358384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7B1D2E"/>
                </a:solidFill>
                <a:latin typeface="Segoe UI"/>
              </a:rPr>
              <a:t>3 /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5779008"/>
            <a:ext cx="21031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3B3531"/>
                </a:solidFill>
                <a:latin typeface="Segoe UI"/>
              </a:rPr>
              <a:t>CloudWatch alarms wired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43799" y="1744980"/>
            <a:ext cx="4468882" cy="2545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581899" y="1783080"/>
            <a:ext cx="4392682" cy="2468879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5943600" y="4434840"/>
            <a:ext cx="5669280" cy="1783080"/>
          </a:xfrm>
          <a:prstGeom prst="rect">
            <a:avLst/>
          </a:prstGeom>
          <a:solidFill>
            <a:srgbClr val="7B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17920" y="45720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E8DDC7"/>
                </a:solidFill>
                <a:latin typeface="Segoe UI"/>
              </a:rPr>
              <a:t>CONCLUSION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937760"/>
            <a:ext cx="5120640" cy="79028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 dirty="0">
                <a:solidFill>
                  <a:srgbClr val="F6F1EA"/>
                </a:solidFill>
                <a:latin typeface="Segoe UI"/>
              </a:rPr>
              <a:t>We built a microservices backend that auto-scales under load and self-heals under failure</a:t>
            </a:r>
            <a:r>
              <a:rPr lang="en-US" sz="1300" b="0" dirty="0">
                <a:solidFill>
                  <a:srgbClr val="F6F1EA"/>
                </a:solidFill>
                <a:latin typeface="Segoe UI"/>
              </a:rPr>
              <a:t>: </a:t>
            </a:r>
            <a:r>
              <a:rPr sz="1300" b="0" dirty="0">
                <a:solidFill>
                  <a:srgbClr val="F6F1EA"/>
                </a:solidFill>
                <a:latin typeface="Segoe UI"/>
              </a:rPr>
              <a:t>and proved it with measured chaos experiments that produced zero user-visible errors.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1140</Words>
  <Application>Microsoft Office PowerPoint</Application>
  <PresentationFormat>Widescreen</PresentationFormat>
  <Paragraphs>137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u2022067</cp:lastModifiedBy>
  <cp:revision>5</cp:revision>
  <dcterms:created xsi:type="dcterms:W3CDTF">2013-01-27T09:14:16Z</dcterms:created>
  <dcterms:modified xsi:type="dcterms:W3CDTF">2026-05-14T09:24:01Z</dcterms:modified>
  <cp:category/>
</cp:coreProperties>
</file>